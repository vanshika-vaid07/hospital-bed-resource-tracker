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0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9" r:id="rId12"/>
    <p:sldId id="2146847057" r:id="rId13"/>
    <p:sldId id="2146847058" r:id="rId14"/>
    <p:sldId id="268" r:id="rId15"/>
    <p:sldId id="2146847055" r:id="rId16"/>
    <p:sldId id="269" r:id="rId17"/>
    <p:sldId id="2146847056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EC2134-FE55-D600-31C0-C82AB450B7AA}" v="39" dt="2026-08-09T17:41:19.1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714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9/10/2026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docs/" TargetMode="External"/><Relationship Id="rId7" Type="http://schemas.openxmlformats.org/officeDocument/2006/relationships/hyperlink" Target="https://github.com/" TargetMode="External"/><Relationship Id="rId2" Type="http://schemas.openxmlformats.org/officeDocument/2006/relationships/hyperlink" Target="https://docs.python.org/3/librar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ob.ibm.com/docs/" TargetMode="External"/><Relationship Id="rId5" Type="http://schemas.openxmlformats.org/officeDocument/2006/relationships/hyperlink" Target="https://ai.google.dev/gemini-api/docs?utm_source=chatgpt.com" TargetMode="External"/><Relationship Id="rId4" Type="http://schemas.openxmlformats.org/officeDocument/2006/relationships/hyperlink" Target="https://docs.streamlit.io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icte-batch1-resume-builder-fuurng7gntvmkafiuf6own.streamlit.app/" TargetMode="External"/><Relationship Id="rId2" Type="http://schemas.openxmlformats.org/officeDocument/2006/relationships/hyperlink" Target="https://github.com/vanshika-vaid07/hospital-bed-resource-track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ospital-bed-resource-tracker-uufhamgsp5wdkcpt8ie9rj.streamlit.app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6676" y="1293857"/>
            <a:ext cx="9144000" cy="977778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HOSPITAL BED &amp; RESOURCE AVAILABILITY TRACKER</a:t>
            </a:r>
            <a:b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534648" y="635772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Vanshika Vaid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Daulat Ram College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 – B.com(Hons)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4.   AICTE ID- </a:t>
            </a: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STU69c28e6d9bc7d1774358125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>
                <a:latin typeface="Arial"/>
                <a:ea typeface="+mn-lt"/>
                <a:cs typeface="Arial"/>
              </a:rPr>
              <a:t>  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Problem Statement </a:t>
            </a:r>
            <a:r>
              <a:rPr lang="en-US" sz="2000">
                <a:latin typeface="Arial"/>
                <a:ea typeface="+mn-lt"/>
                <a:cs typeface="Arial"/>
              </a:rPr>
              <a:t>(Should not include solution)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Proposed System/Solution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Calibri"/>
              </a:rPr>
              <a:t>System </a:t>
            </a:r>
            <a:r>
              <a:rPr lang="en-US" sz="2000" b="1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>
                <a:latin typeface="Arial"/>
                <a:ea typeface="+mn-lt"/>
                <a:cs typeface="+mn-lt"/>
              </a:rPr>
              <a:t>(Technology Used) </a:t>
            </a:r>
            <a:endParaRPr lang="en-US">
              <a:latin typeface="Arial"/>
              <a:ea typeface="+mn-lt"/>
              <a:cs typeface="+mn-lt"/>
            </a:endParaRPr>
          </a:p>
          <a:p>
            <a:r>
              <a:rPr lang="en-US" sz="2000" b="1">
                <a:latin typeface="Arial"/>
                <a:ea typeface="+mn-lt"/>
                <a:cs typeface="+mn-lt"/>
              </a:rPr>
              <a:t>Algorithm &amp; Deployment  </a:t>
            </a:r>
            <a:endParaRPr lang="en-US">
              <a:latin typeface="Arial"/>
              <a:cs typeface="Calibri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>
                <a:latin typeface="Arial"/>
                <a:ea typeface="+mn-lt"/>
                <a:cs typeface="Arial"/>
              </a:rPr>
              <a:t>Conclusion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>
                <a:latin typeface="Arial"/>
                <a:ea typeface="+mn-lt"/>
                <a:cs typeface="Arial"/>
              </a:rPr>
              <a:t>References</a:t>
            </a:r>
            <a:endParaRPr lang="en-US">
              <a:latin typeface="Arial"/>
              <a:cs typeface="Arial"/>
            </a:endParaRPr>
          </a:p>
          <a:p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/>
          <a:lstStyle/>
          <a:p>
            <a:r>
              <a:rPr lang="en-IN" sz="18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Hospitals manage a large number of essential resources such as beds, equipment and other facilities on a continuous basis. However, information about resource availability, occupancy and maintenance status can be difficult to monitor and understand efficiently when it is not presented in a centralized and organized manner.</a:t>
            </a:r>
          </a:p>
          <a:p>
            <a:r>
              <a:rPr lang="en-IN" sz="18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 of clear and timely visibility into resource status can make it difficult to identify available resources, occupied resources and resources under maintenance. This creates a need for better organization and monitoring of hospital resource information.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57" y="1500333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IN" sz="1600" dirty="0"/>
              <a:t>The proposed system provides a centralized, interactive tracker for monitoring hospital beds and essential resources.</a:t>
            </a:r>
          </a:p>
          <a:p>
            <a:pPr marL="0" indent="0">
              <a:buNone/>
            </a:pPr>
            <a:r>
              <a:rPr lang="en-IN" sz="1400" b="1" dirty="0"/>
              <a:t>Data Collection:</a:t>
            </a:r>
            <a:endParaRPr lang="en-IN" sz="1400" dirty="0"/>
          </a:p>
          <a:p>
            <a:pPr lvl="0"/>
            <a:r>
              <a:rPr lang="en-IN" sz="1400" dirty="0"/>
              <a:t>Use structured fictional/demo data on hospitals, resource types and current status. </a:t>
            </a:r>
          </a:p>
          <a:p>
            <a:pPr lvl="0"/>
            <a:r>
              <a:rPr lang="en-IN" sz="1400" dirty="0"/>
              <a:t>Categorize resources as </a:t>
            </a:r>
            <a:r>
              <a:rPr lang="en-IN" sz="1400" b="1" dirty="0"/>
              <a:t>available, occupied or under maintenance</a:t>
            </a:r>
            <a:r>
              <a:rPr lang="en-IN" sz="1400" dirty="0"/>
              <a:t>. </a:t>
            </a:r>
          </a:p>
          <a:p>
            <a:pPr marL="0" indent="0">
              <a:buNone/>
            </a:pPr>
            <a:r>
              <a:rPr lang="en-IN" sz="1400" b="1" dirty="0"/>
              <a:t>Data Processing</a:t>
            </a:r>
            <a:r>
              <a:rPr lang="en-IN" sz="1200" b="1" dirty="0"/>
              <a:t>:</a:t>
            </a:r>
            <a:endParaRPr lang="en-IN" sz="1200" dirty="0"/>
          </a:p>
          <a:p>
            <a:pPr lvl="0"/>
            <a:r>
              <a:rPr lang="en-IN" sz="1400" dirty="0"/>
              <a:t>Organize and process data using </a:t>
            </a:r>
            <a:r>
              <a:rPr lang="en-IN" sz="1400" b="1" dirty="0"/>
              <a:t>Python and Pandas</a:t>
            </a:r>
            <a:r>
              <a:rPr lang="en-IN" sz="1400" dirty="0"/>
              <a:t>. </a:t>
            </a:r>
          </a:p>
          <a:p>
            <a:pPr lvl="0"/>
            <a:r>
              <a:rPr lang="en-IN" sz="1400" dirty="0"/>
              <a:t>Apply </a:t>
            </a:r>
            <a:r>
              <a:rPr lang="en-IN" sz="1400" b="1" dirty="0"/>
              <a:t>hospital and resource-based filters</a:t>
            </a:r>
            <a:r>
              <a:rPr lang="en-IN" sz="1400" dirty="0"/>
              <a:t> for focused analysis. </a:t>
            </a:r>
          </a:p>
          <a:p>
            <a:pPr marL="0" indent="0">
              <a:buNone/>
            </a:pPr>
            <a:r>
              <a:rPr lang="en-IN" sz="1400" b="1" dirty="0"/>
              <a:t>AI/LLM Integration:</a:t>
            </a:r>
            <a:endParaRPr lang="en-IN" sz="1400" dirty="0"/>
          </a:p>
          <a:p>
            <a:pPr lvl="0"/>
            <a:r>
              <a:rPr lang="en-IN" sz="1400" dirty="0"/>
              <a:t>Integrate </a:t>
            </a:r>
            <a:r>
              <a:rPr lang="en-IN" sz="1400" b="1" dirty="0"/>
              <a:t>Gemini LLM via API key</a:t>
            </a:r>
            <a:r>
              <a:rPr lang="en-IN" sz="1400" dirty="0"/>
              <a:t> to generate plain-language resource summaries. </a:t>
            </a:r>
          </a:p>
          <a:p>
            <a:pPr lvl="0"/>
            <a:r>
              <a:rPr lang="en-IN" sz="1400" dirty="0"/>
              <a:t>Provide </a:t>
            </a:r>
            <a:r>
              <a:rPr lang="en-IN" sz="1400" b="1" dirty="0"/>
              <a:t>filtered resource data</a:t>
            </a:r>
            <a:r>
              <a:rPr lang="en-IN" sz="1400" dirty="0"/>
              <a:t> to the AI for meaningful summaries. </a:t>
            </a:r>
          </a:p>
          <a:p>
            <a:pPr marL="0" indent="0">
              <a:buNone/>
            </a:pPr>
            <a:r>
              <a:rPr lang="en-IN" sz="1400" b="1" dirty="0"/>
              <a:t>Deployment:</a:t>
            </a:r>
            <a:endParaRPr lang="en-IN" sz="1400" dirty="0"/>
          </a:p>
          <a:p>
            <a:pPr lvl="0"/>
            <a:r>
              <a:rPr lang="en-IN" sz="1400" dirty="0"/>
              <a:t>Develop a user-friendly interactive app using </a:t>
            </a:r>
            <a:r>
              <a:rPr lang="en-IN" sz="1400" b="1" dirty="0" err="1"/>
              <a:t>Streamlit</a:t>
            </a:r>
            <a:r>
              <a:rPr lang="en-IN" sz="1400" dirty="0"/>
              <a:t>. </a:t>
            </a:r>
          </a:p>
          <a:p>
            <a:pPr lvl="0"/>
            <a:r>
              <a:rPr lang="en-IN" sz="1400" dirty="0"/>
              <a:t>Run it locally through a </a:t>
            </a:r>
            <a:r>
              <a:rPr lang="en-IN" sz="1400" b="1" dirty="0" err="1"/>
              <a:t>Streamlit</a:t>
            </a:r>
            <a:r>
              <a:rPr lang="en-IN" sz="1400" b="1" dirty="0"/>
              <a:t> server</a:t>
            </a:r>
            <a:r>
              <a:rPr lang="en-IN" sz="1400" dirty="0"/>
              <a:t> for resource monitoring. </a:t>
            </a:r>
          </a:p>
          <a:p>
            <a:pPr marL="0" indent="0">
              <a:buNone/>
            </a:pPr>
            <a:r>
              <a:rPr lang="en-IN" sz="1400" b="1" dirty="0"/>
              <a:t>Evaluation:</a:t>
            </a:r>
            <a:endParaRPr lang="en-IN" sz="1400" dirty="0"/>
          </a:p>
          <a:p>
            <a:pPr lvl="0"/>
            <a:r>
              <a:rPr lang="en-IN" sz="1400" dirty="0"/>
              <a:t>Evaluate </a:t>
            </a:r>
            <a:r>
              <a:rPr lang="en-IN" sz="1400" b="1" dirty="0"/>
              <a:t>resource count accuracy, filter functionality and dashboard usability</a:t>
            </a:r>
            <a:r>
              <a:rPr lang="en-IN" sz="1400" dirty="0"/>
              <a:t>. </a:t>
            </a:r>
          </a:p>
          <a:p>
            <a:pPr lvl="0"/>
            <a:r>
              <a:rPr lang="en-IN" sz="1400" dirty="0"/>
              <a:t>Test AI summaries for </a:t>
            </a:r>
            <a:r>
              <a:rPr lang="en-IN" sz="1400" b="1" dirty="0"/>
              <a:t>meaningfulness and accuracy</a:t>
            </a:r>
            <a:r>
              <a:rPr lang="en-IN" sz="1400" dirty="0"/>
              <a:t>.</a:t>
            </a:r>
          </a:p>
          <a:p>
            <a:pPr marL="305435" indent="-305435"/>
            <a:endParaRPr lang="en-IN" sz="1200" b="1" dirty="0">
              <a:latin typeface="Calibri"/>
              <a:cs typeface="Calibri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973" y="1192868"/>
            <a:ext cx="11029615" cy="46733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100" b="1" dirty="0"/>
              <a:t>System Requirements</a:t>
            </a:r>
            <a:endParaRPr lang="en-IN" sz="2100" dirty="0"/>
          </a:p>
          <a:p>
            <a:pPr lvl="0"/>
            <a:r>
              <a:rPr lang="en-IN" sz="1800" dirty="0"/>
              <a:t>Python 3.x </a:t>
            </a:r>
          </a:p>
          <a:p>
            <a:pPr lvl="0"/>
            <a:r>
              <a:rPr lang="en-IN" sz="1800" dirty="0" err="1"/>
              <a:t>Streamlit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Pandas </a:t>
            </a:r>
          </a:p>
          <a:p>
            <a:pPr lvl="0"/>
            <a:r>
              <a:rPr lang="en-IN" sz="1800" dirty="0"/>
              <a:t>Google Gemini API </a:t>
            </a:r>
          </a:p>
          <a:p>
            <a:pPr lvl="0"/>
            <a:r>
              <a:rPr lang="en-IN" sz="1800" dirty="0"/>
              <a:t>IBM Bob </a:t>
            </a:r>
          </a:p>
          <a:p>
            <a:pPr lvl="0"/>
            <a:r>
              <a:rPr lang="en-IN" sz="1800" dirty="0"/>
              <a:t>Internet connection for Gemini API integration </a:t>
            </a:r>
          </a:p>
          <a:p>
            <a:pPr marL="0" indent="0">
              <a:buNone/>
            </a:pPr>
            <a:r>
              <a:rPr lang="en-IN" sz="2100" b="1" dirty="0"/>
              <a:t>Libraries / Tools Required</a:t>
            </a:r>
            <a:endParaRPr lang="en-IN" sz="2100" dirty="0"/>
          </a:p>
          <a:p>
            <a:pPr lvl="0"/>
            <a:r>
              <a:rPr lang="en-IN" sz="1800" dirty="0" err="1"/>
              <a:t>Streamlit</a:t>
            </a:r>
            <a:r>
              <a:rPr lang="en-IN" sz="1800" dirty="0"/>
              <a:t> — to build the interactive web application </a:t>
            </a:r>
          </a:p>
          <a:p>
            <a:pPr lvl="0"/>
            <a:r>
              <a:rPr lang="en-IN" sz="1800" dirty="0"/>
              <a:t>Pandas — to manage and process hospital resource data </a:t>
            </a:r>
          </a:p>
          <a:p>
            <a:pPr lvl="0"/>
            <a:r>
              <a:rPr lang="en-IN" sz="1800" dirty="0"/>
              <a:t>Google GenAI — to connect the application with Gemini </a:t>
            </a:r>
          </a:p>
          <a:p>
            <a:pPr lvl="0"/>
            <a:r>
              <a:rPr lang="en-IN" sz="1800" dirty="0"/>
              <a:t>Python — for application development and data processing </a:t>
            </a:r>
          </a:p>
          <a:p>
            <a:pPr lvl="0"/>
            <a:r>
              <a:rPr lang="en-IN" sz="1800" dirty="0"/>
              <a:t>IBM Bob — for AI-assisted project development</a:t>
            </a:r>
          </a:p>
          <a:p>
            <a:pPr marL="0" indent="0">
              <a:buNone/>
            </a:pPr>
            <a:endParaRPr lang="en-IN" sz="1800" b="1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43" y="1814220"/>
            <a:ext cx="11029615" cy="467332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4400" b="1" dirty="0"/>
              <a:t>Algorithm / AI Approach</a:t>
            </a:r>
          </a:p>
          <a:p>
            <a:pPr marL="0" indent="0">
              <a:buNone/>
            </a:pPr>
            <a:r>
              <a:rPr lang="en-IN" sz="3600" b="1" dirty="0"/>
              <a:t>AI Model Selection:</a:t>
            </a:r>
            <a:endParaRPr lang="en-IN" sz="3600" dirty="0"/>
          </a:p>
          <a:p>
            <a:pPr lvl="0"/>
            <a:r>
              <a:rPr lang="en-IN" sz="3600" b="1" dirty="0"/>
              <a:t>Google Gemini LLM</a:t>
            </a:r>
            <a:r>
              <a:rPr lang="en-IN" sz="3600" dirty="0"/>
              <a:t> generates natural-language summaries of hospital resource availability. </a:t>
            </a:r>
          </a:p>
          <a:p>
            <a:pPr lvl="0"/>
            <a:r>
              <a:rPr lang="en-IN" sz="3600" dirty="0"/>
              <a:t>Selected to convert </a:t>
            </a:r>
            <a:r>
              <a:rPr lang="en-IN" sz="3600" b="1" dirty="0"/>
              <a:t>structured data into simple insights</a:t>
            </a:r>
            <a:r>
              <a:rPr lang="en-IN" sz="3600" dirty="0"/>
              <a:t>, not predict future values. </a:t>
            </a:r>
          </a:p>
          <a:p>
            <a:pPr marL="0" indent="0">
              <a:buNone/>
            </a:pPr>
            <a:r>
              <a:rPr lang="en-IN" sz="4800" b="1" dirty="0"/>
              <a:t>Data Input:                                                                                                                                                         </a:t>
            </a:r>
            <a:endParaRPr lang="en-IN" sz="4800" dirty="0"/>
          </a:p>
          <a:p>
            <a:pPr lvl="0"/>
            <a:r>
              <a:rPr lang="en-IN" sz="4000" dirty="0"/>
              <a:t>Hospital and resource data </a:t>
            </a:r>
          </a:p>
          <a:p>
            <a:pPr lvl="0"/>
            <a:r>
              <a:rPr lang="en-IN" sz="4000" dirty="0"/>
              <a:t>Resource type </a:t>
            </a:r>
          </a:p>
          <a:p>
            <a:pPr lvl="0"/>
            <a:r>
              <a:rPr lang="en-IN" sz="4000" dirty="0"/>
              <a:t>Status: </a:t>
            </a:r>
            <a:r>
              <a:rPr lang="en-IN" sz="4000" b="1" dirty="0"/>
              <a:t>Available, Occupied, Maintenance</a:t>
            </a:r>
            <a:r>
              <a:rPr lang="en-IN" sz="4000" dirty="0"/>
              <a:t> </a:t>
            </a:r>
          </a:p>
          <a:p>
            <a:pPr lvl="0"/>
            <a:r>
              <a:rPr lang="en-IN" sz="4000" dirty="0"/>
              <a:t>Hospital-wise resource details </a:t>
            </a:r>
          </a:p>
          <a:p>
            <a:pPr lvl="0"/>
            <a:r>
              <a:rPr lang="en-IN" sz="4000" dirty="0"/>
              <a:t>Dashboard-filtered data </a:t>
            </a:r>
          </a:p>
          <a:p>
            <a:pPr marL="0" indent="0">
              <a:buNone/>
            </a:pPr>
            <a:r>
              <a:rPr lang="en-IN" sz="4400" b="1" dirty="0"/>
              <a:t>Processing:</a:t>
            </a:r>
            <a:endParaRPr lang="en-IN" sz="4400" dirty="0"/>
          </a:p>
          <a:p>
            <a:pPr lvl="0"/>
            <a:r>
              <a:rPr lang="en-IN" sz="4000" dirty="0"/>
              <a:t>Organize data using </a:t>
            </a:r>
            <a:r>
              <a:rPr lang="en-IN" sz="4000" b="1" dirty="0"/>
              <a:t>Python and Pandas</a:t>
            </a:r>
            <a:r>
              <a:rPr lang="en-IN" sz="4000" dirty="0"/>
              <a:t>. </a:t>
            </a:r>
          </a:p>
          <a:p>
            <a:pPr lvl="0"/>
            <a:r>
              <a:rPr lang="en-IN" sz="4000" dirty="0"/>
              <a:t>Send relevant data to </a:t>
            </a:r>
            <a:r>
              <a:rPr lang="en-IN" sz="4000" b="1" dirty="0"/>
              <a:t>Gemini via API</a:t>
            </a:r>
            <a:r>
              <a:rPr lang="en-IN" sz="4000" dirty="0"/>
              <a:t>. </a:t>
            </a:r>
          </a:p>
          <a:p>
            <a:pPr lvl="0"/>
            <a:r>
              <a:rPr lang="en-IN" sz="4000" dirty="0"/>
              <a:t>Gemini </a:t>
            </a:r>
            <a:r>
              <a:rPr lang="en-IN" sz="4000" dirty="0" err="1"/>
              <a:t>analyzes</a:t>
            </a:r>
            <a:r>
              <a:rPr lang="en-IN" sz="4000" dirty="0"/>
              <a:t> the data and generates a </a:t>
            </a:r>
            <a:r>
              <a:rPr lang="en-IN" sz="4000" b="1" dirty="0"/>
              <a:t>concise summary</a:t>
            </a:r>
            <a:r>
              <a:rPr lang="en-IN" sz="4000" dirty="0"/>
              <a:t>. </a:t>
            </a:r>
          </a:p>
          <a:p>
            <a:pPr marL="0" indent="0">
              <a:buNone/>
            </a:pPr>
            <a:r>
              <a:rPr lang="en-IN" sz="4800" b="1" dirty="0"/>
              <a:t>AI Output:</a:t>
            </a:r>
            <a:endParaRPr lang="en-IN" sz="4800" dirty="0"/>
          </a:p>
          <a:p>
            <a:pPr lvl="0"/>
            <a:r>
              <a:rPr lang="en-IN" sz="4000" dirty="0"/>
              <a:t>Plain-language summary of current resource availability. </a:t>
            </a:r>
          </a:p>
          <a:p>
            <a:pPr lvl="0"/>
            <a:r>
              <a:rPr lang="en-IN" sz="4000" dirty="0"/>
              <a:t>Highlights key </a:t>
            </a:r>
            <a:r>
              <a:rPr lang="en-IN" sz="4000" b="1" dirty="0"/>
              <a:t>trends and availability conditions</a:t>
            </a:r>
            <a:r>
              <a:rPr lang="en-IN" sz="4000" dirty="0"/>
              <a:t>. </a:t>
            </a:r>
          </a:p>
          <a:p>
            <a:pPr lvl="0"/>
            <a:r>
              <a:rPr lang="en-IN" sz="4800" dirty="0"/>
              <a:t>Helps users understand data without manual interpretation. </a:t>
            </a:r>
          </a:p>
          <a:p>
            <a:pPr marL="0" indent="0">
              <a:buNone/>
            </a:pPr>
            <a:r>
              <a:rPr lang="en-IN" sz="4400" b="1" dirty="0"/>
              <a:t>Deployment:</a:t>
            </a:r>
            <a:endParaRPr lang="en-IN" sz="4400" dirty="0"/>
          </a:p>
          <a:p>
            <a:pPr lvl="0"/>
            <a:r>
              <a:rPr lang="en-IN" sz="4000" b="1" dirty="0"/>
              <a:t>Development:</a:t>
            </a:r>
            <a:r>
              <a:rPr lang="en-IN" sz="4000" dirty="0"/>
              <a:t> Python application developed with IBM Bob. </a:t>
            </a:r>
          </a:p>
          <a:p>
            <a:pPr lvl="0"/>
            <a:r>
              <a:rPr lang="en-IN" sz="4000" b="1" dirty="0"/>
              <a:t>Interface:</a:t>
            </a:r>
            <a:r>
              <a:rPr lang="en-IN" sz="4000" dirty="0"/>
              <a:t> </a:t>
            </a:r>
            <a:r>
              <a:rPr lang="en-IN" sz="4000" dirty="0" err="1"/>
              <a:t>Streamlit</a:t>
            </a:r>
            <a:r>
              <a:rPr lang="en-IN" sz="4000" dirty="0"/>
              <a:t> interactive web app. </a:t>
            </a:r>
          </a:p>
          <a:p>
            <a:pPr lvl="0"/>
            <a:r>
              <a:rPr lang="en-IN" sz="4000" b="1" dirty="0"/>
              <a:t>AI Integration:</a:t>
            </a:r>
            <a:r>
              <a:rPr lang="en-IN" sz="4000" dirty="0"/>
              <a:t> Google Gemini API. </a:t>
            </a:r>
          </a:p>
          <a:p>
            <a:pPr lvl="0"/>
            <a:r>
              <a:rPr lang="en-IN" sz="4000" b="1" dirty="0"/>
              <a:t>Deployment:</a:t>
            </a:r>
            <a:r>
              <a:rPr lang="en-IN" sz="4000" dirty="0"/>
              <a:t> Runs through </a:t>
            </a:r>
            <a:r>
              <a:rPr lang="en-IN" sz="4000" dirty="0" err="1"/>
              <a:t>Streamlit</a:t>
            </a:r>
            <a:r>
              <a:rPr lang="en-IN" sz="4000" dirty="0"/>
              <a:t> server. </a:t>
            </a:r>
          </a:p>
          <a:p>
            <a:pPr marL="305435" indent="-305435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8E5E5D-235B-9AE4-9126-A32CAE5F3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684" y="1642944"/>
            <a:ext cx="10317707" cy="4673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6686D-9CAF-A0FB-E57D-1A7BBB44C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FA267A-7DBC-958E-F9FD-3B74BCBEB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04C39D-81DB-5E09-BA33-82F8DC86B0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291" y="1482244"/>
            <a:ext cx="10637268" cy="4673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34902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973BB-3A5F-5D02-271F-D1DA34670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5C4A62-A5BA-BB84-67A6-C98A02DB1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D531121-27A3-6EC0-8EB0-E0CD7EDA9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301750"/>
            <a:ext cx="10282426" cy="4673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78525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03D1E-C915-B0DB-2769-7876BECCD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E30349-25D7-966D-A21A-47084B2AF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3ACE98-DE39-D739-6BE6-FE8C9ABF78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301750"/>
            <a:ext cx="10446199" cy="48540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23162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362" y="1445730"/>
            <a:ext cx="11029615" cy="4673324"/>
          </a:xfrm>
        </p:spPr>
        <p:txBody>
          <a:bodyPr>
            <a:normAutofit fontScale="25000" lnSpcReduction="20000"/>
          </a:bodyPr>
          <a:lstStyle/>
          <a:p>
            <a:pPr lvl="0"/>
            <a:r>
              <a:rPr lang="en-IN" sz="5600" dirty="0"/>
              <a:t>The </a:t>
            </a:r>
            <a:r>
              <a:rPr lang="en-IN" sz="5600" b="1" dirty="0"/>
              <a:t>Hospital Bed &amp; Resource Availability Tracker</a:t>
            </a:r>
            <a:r>
              <a:rPr lang="en-IN" sz="5600" dirty="0"/>
              <a:t> successfully provides a centralized and interactive way to monitor hospital resources. </a:t>
            </a:r>
          </a:p>
          <a:p>
            <a:pPr lvl="0"/>
            <a:r>
              <a:rPr lang="en-IN" sz="5600" dirty="0"/>
              <a:t>The proposed solution effectively organizes resource information and presents </a:t>
            </a:r>
            <a:r>
              <a:rPr lang="en-IN" sz="5600" b="1" dirty="0"/>
              <a:t>availability, occupancy, maintenance status, and historical trends</a:t>
            </a:r>
            <a:r>
              <a:rPr lang="en-IN" sz="5600" dirty="0"/>
              <a:t> through an easy-to-use dashboard. </a:t>
            </a:r>
          </a:p>
          <a:p>
            <a:pPr lvl="0"/>
            <a:r>
              <a:rPr lang="en-IN" sz="5600" dirty="0"/>
              <a:t>Integration of </a:t>
            </a:r>
            <a:r>
              <a:rPr lang="en-IN" sz="5600" b="1" dirty="0"/>
              <a:t>Google Gemini</a:t>
            </a:r>
            <a:r>
              <a:rPr lang="en-IN" sz="5600" dirty="0"/>
              <a:t> adds an AI-based summary feature that converts resource information into simple and understandable insights. </a:t>
            </a:r>
          </a:p>
          <a:p>
            <a:pPr lvl="0"/>
            <a:r>
              <a:rPr lang="en-IN" sz="5600" dirty="0"/>
              <a:t>The project demonstrates how </a:t>
            </a:r>
            <a:r>
              <a:rPr lang="en-IN" sz="5600" b="1" dirty="0"/>
              <a:t>Python, Pandas, </a:t>
            </a:r>
            <a:r>
              <a:rPr lang="en-IN" sz="5600" b="1" dirty="0" err="1"/>
              <a:t>Streamlit</a:t>
            </a:r>
            <a:r>
              <a:rPr lang="en-IN" sz="5600" b="1" dirty="0"/>
              <a:t>, and Generative AI</a:t>
            </a:r>
            <a:r>
              <a:rPr lang="en-IN" sz="5600" dirty="0"/>
              <a:t> can be combined to improve resource monitoring. </a:t>
            </a:r>
          </a:p>
          <a:p>
            <a:pPr marL="0" indent="0">
              <a:buNone/>
            </a:pPr>
            <a:r>
              <a:rPr lang="en-IN" sz="4300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IN" sz="5600" b="1" dirty="0">
                <a:latin typeface="Arial" panose="020B0604020202020204" pitchFamily="34" charset="0"/>
                <a:cs typeface="Arial" panose="020B0604020202020204" pitchFamily="34" charset="0"/>
              </a:rPr>
              <a:t>Challenges Encountered</a:t>
            </a:r>
          </a:p>
          <a:p>
            <a:pPr lvl="0"/>
            <a:r>
              <a:rPr lang="en-IN" sz="5600" dirty="0"/>
              <a:t>Integrating the Gemini API with the application. </a:t>
            </a:r>
          </a:p>
          <a:p>
            <a:pPr lvl="0"/>
            <a:r>
              <a:rPr lang="en-IN" sz="5600" dirty="0"/>
              <a:t>Managing API key configuration and model compatibility. </a:t>
            </a:r>
          </a:p>
          <a:p>
            <a:pPr lvl="0"/>
            <a:r>
              <a:rPr lang="en-IN" sz="5600" dirty="0"/>
              <a:t>Organizing and presenting resource data in a meaningful format. </a:t>
            </a:r>
          </a:p>
          <a:p>
            <a:pPr lvl="0"/>
            <a:r>
              <a:rPr lang="en-IN" sz="5600" dirty="0"/>
              <a:t>Ensuring smooth interaction between the dashboard and AI Summary feature. </a:t>
            </a:r>
          </a:p>
          <a:p>
            <a:pPr marL="0" indent="0">
              <a:buNone/>
            </a:pPr>
            <a:r>
              <a:rPr lang="en-IN" sz="4300" b="1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IN" sz="5600" b="1" dirty="0">
                <a:latin typeface="Arial" panose="020B0604020202020204" pitchFamily="34" charset="0"/>
                <a:cs typeface="Arial" panose="020B0604020202020204" pitchFamily="34" charset="0"/>
              </a:rPr>
              <a:t>Future Improvements</a:t>
            </a:r>
            <a:endParaRPr lang="en-IN" sz="4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5600" dirty="0"/>
              <a:t>Connect the system with </a:t>
            </a:r>
            <a:r>
              <a:rPr lang="en-IN" sz="5600" b="1" dirty="0"/>
              <a:t>real-time hospital databases</a:t>
            </a:r>
            <a:r>
              <a:rPr lang="en-IN" sz="5600" dirty="0"/>
              <a:t>. </a:t>
            </a:r>
          </a:p>
          <a:p>
            <a:pPr lvl="0"/>
            <a:r>
              <a:rPr lang="en-IN" sz="5600" dirty="0"/>
              <a:t>Add real-time bed and equipment availability updates. </a:t>
            </a:r>
          </a:p>
          <a:p>
            <a:pPr lvl="0"/>
            <a:r>
              <a:rPr lang="en-IN" sz="5600" dirty="0"/>
              <a:t>Include more hospitals and resource categories. </a:t>
            </a:r>
          </a:p>
          <a:p>
            <a:pPr lvl="0"/>
            <a:r>
              <a:rPr lang="en-IN" sz="5600" dirty="0"/>
              <a:t>Add </a:t>
            </a:r>
            <a:r>
              <a:rPr lang="en-IN" sz="5600" b="1" dirty="0"/>
              <a:t>user authentication and data security</a:t>
            </a:r>
            <a:r>
              <a:rPr lang="en-IN" sz="5600" dirty="0"/>
              <a:t>. </a:t>
            </a:r>
          </a:p>
          <a:p>
            <a:pPr lvl="0"/>
            <a:r>
              <a:rPr lang="en-IN" sz="5600" dirty="0"/>
              <a:t>Improve AI-based analysis with more detailed recommendations and alerts.</a:t>
            </a:r>
          </a:p>
          <a:p>
            <a:pPr marL="305435" indent="-305435"/>
            <a:endParaRPr lang="en-IN" sz="2000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IN" sz="1800" b="1" dirty="0"/>
              <a:t> 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Potential Enhancements</a:t>
            </a:r>
            <a:endParaRPr lang="en-IN" sz="2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900" b="1" dirty="0"/>
              <a:t>Real-Time Data Integration:</a:t>
            </a:r>
            <a:r>
              <a:rPr lang="en-IN" sz="2900" dirty="0"/>
              <a:t> Connect the system with live hospital databases to provide real-time bed and resource availability. </a:t>
            </a:r>
          </a:p>
          <a:p>
            <a:pPr lvl="0"/>
            <a:r>
              <a:rPr lang="en-IN" sz="2900" b="1" dirty="0"/>
              <a:t>Predictive Analytics:</a:t>
            </a:r>
            <a:r>
              <a:rPr lang="en-IN" sz="2900" dirty="0"/>
              <a:t> Introduce machine-learning techniques to predict future bed occupancy and resource requirements. </a:t>
            </a:r>
          </a:p>
          <a:p>
            <a:pPr lvl="0"/>
            <a:r>
              <a:rPr lang="en-IN" sz="2900" b="1" dirty="0"/>
              <a:t>Advanced AI Integration:</a:t>
            </a:r>
            <a:r>
              <a:rPr lang="en-IN" sz="2900" dirty="0"/>
              <a:t> Use advanced AI models to identify resource trends and provide intelligent recommendations. </a:t>
            </a:r>
          </a:p>
          <a:p>
            <a:pPr lvl="0"/>
            <a:r>
              <a:rPr lang="en-IN" sz="2900" b="1" dirty="0"/>
              <a:t>Additional Data Sources:</a:t>
            </a:r>
            <a:r>
              <a:rPr lang="en-IN" sz="2900" dirty="0"/>
              <a:t> Incorporate patient admission, discharge, emergency, equipment and occupancy data. </a:t>
            </a:r>
          </a:p>
          <a:p>
            <a:pPr lvl="0"/>
            <a:r>
              <a:rPr lang="en-IN" sz="2900" b="1" dirty="0"/>
              <a:t>Automated Alerts:</a:t>
            </a:r>
            <a:r>
              <a:rPr lang="en-IN" sz="2900" dirty="0"/>
              <a:t> Develop alerts for low bed availability, high occupancy and equipment maintenance. </a:t>
            </a:r>
          </a:p>
          <a:p>
            <a:pPr lvl="0"/>
            <a:r>
              <a:rPr lang="en-IN" sz="2900" b="1" dirty="0"/>
              <a:t>Multi-Hospital Expansion:</a:t>
            </a:r>
            <a:r>
              <a:rPr lang="en-IN" sz="2900" dirty="0"/>
              <a:t> Expand the system to monitor resources across multiple hospitals and healthcare facilities. </a:t>
            </a:r>
          </a:p>
          <a:p>
            <a:pPr lvl="0"/>
            <a:r>
              <a:rPr lang="en-IN" sz="2900" b="1" dirty="0"/>
              <a:t>Improved Security:</a:t>
            </a:r>
            <a:r>
              <a:rPr lang="en-IN" sz="2900" dirty="0"/>
              <a:t> Add authentication, access controls and stronger data-protection mechanisms. </a:t>
            </a:r>
          </a:p>
          <a:p>
            <a:pPr lvl="0"/>
            <a:r>
              <a:rPr lang="en-IN" sz="2900" b="1" dirty="0"/>
              <a:t>Scalable Deployment:</a:t>
            </a:r>
            <a:r>
              <a:rPr lang="en-IN" sz="2900" dirty="0"/>
              <a:t> Deploy the application on a cloud platform for secure and wider access. </a:t>
            </a:r>
          </a:p>
          <a:p>
            <a:pPr marL="0" indent="0">
              <a:buNone/>
            </a:pP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 Future Vision</a:t>
            </a:r>
          </a:p>
          <a:p>
            <a:r>
              <a:rPr lang="en-IN" sz="2900" dirty="0"/>
              <a:t>The system can evolve from a basic resource monitoring dashboard into an intelligent healthcare resource management and predictive decision-support system.</a:t>
            </a:r>
          </a:p>
          <a:p>
            <a:pPr marL="305435" indent="-305435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sz="2400" b="1" dirty="0"/>
              <a:t>Python Documentation</a:t>
            </a:r>
            <a:r>
              <a:rPr lang="en-IN" sz="2400" dirty="0"/>
              <a:t> — Python Standard Library</a:t>
            </a:r>
            <a:br>
              <a:rPr lang="en-IN" sz="2400" dirty="0"/>
            </a:br>
            <a:r>
              <a:rPr lang="en-IN" sz="2400" dirty="0">
                <a:hlinkClick r:id="rId2"/>
              </a:rPr>
              <a:t>https://docs.python.org/3/library/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Pandas Documentation</a:t>
            </a:r>
            <a:r>
              <a:rPr lang="en-IN" sz="2400" dirty="0"/>
              <a:t> — Data analysis and processing in Python</a:t>
            </a:r>
            <a:br>
              <a:rPr lang="en-IN" sz="2400" dirty="0"/>
            </a:br>
            <a:r>
              <a:rPr lang="en-IN" sz="2400" dirty="0">
                <a:hlinkClick r:id="rId3"/>
              </a:rPr>
              <a:t>https://pandas.pydata.org/docs/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 err="1"/>
              <a:t>Streamlit</a:t>
            </a:r>
            <a:r>
              <a:rPr lang="en-IN" sz="2400" b="1" dirty="0"/>
              <a:t> Documentation</a:t>
            </a:r>
            <a:r>
              <a:rPr lang="en-IN" sz="2400" dirty="0"/>
              <a:t> — Framework for building interactive data applications</a:t>
            </a:r>
            <a:br>
              <a:rPr lang="en-IN" sz="2400" dirty="0"/>
            </a:br>
            <a:r>
              <a:rPr lang="en-IN" sz="2400" dirty="0">
                <a:hlinkClick r:id="rId4"/>
              </a:rPr>
              <a:t>https://docs.streamlit.io/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Google Gemini API Documentation</a:t>
            </a:r>
            <a:r>
              <a:rPr lang="en-IN" sz="2400" dirty="0"/>
              <a:t> — Gemini models and API integration</a:t>
            </a:r>
            <a:br>
              <a:rPr lang="en-IN" sz="2400" dirty="0"/>
            </a:br>
            <a:r>
              <a:rPr lang="en-IN" sz="2400" dirty="0">
                <a:hlinkClick r:id="rId5"/>
              </a:rPr>
              <a:t>https://ai.google.dev/gemini-api/docs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IBM Bob Documentation</a:t>
            </a:r>
            <a:r>
              <a:rPr lang="en-IN" sz="2400" dirty="0"/>
              <a:t> — AI-assisted software development</a:t>
            </a:r>
            <a:br>
              <a:rPr lang="en-IN" sz="2400" dirty="0"/>
            </a:br>
            <a:r>
              <a:rPr lang="en-IN" sz="2400" dirty="0">
                <a:hlinkClick r:id="rId6"/>
              </a:rPr>
              <a:t>https://bob.ibm.com/docs/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GitHub</a:t>
            </a:r>
            <a:r>
              <a:rPr lang="en-IN" sz="2400" dirty="0"/>
              <a:t> — Code hosting and software development resources</a:t>
            </a:r>
            <a:br>
              <a:rPr lang="en-IN" sz="2400" dirty="0"/>
            </a:br>
            <a:r>
              <a:rPr lang="en-IN" sz="2400" dirty="0">
                <a:hlinkClick r:id="rId7"/>
              </a:rPr>
              <a:t>https://github.com/</a:t>
            </a:r>
            <a:endParaRPr lang="en-IN" sz="2400" dirty="0"/>
          </a:p>
          <a:p>
            <a:pPr marL="305435" indent="-305435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link / </a:t>
            </a:r>
            <a:r>
              <a:rPr lang="en-IN" err="1"/>
              <a:t>github</a:t>
            </a:r>
            <a:r>
              <a:rPr lang="en-IN"/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IN" sz="2000" dirty="0" err="1"/>
              <a:t>Github</a:t>
            </a:r>
            <a:r>
              <a:rPr lang="en-IN" sz="2000" dirty="0"/>
              <a:t> Link:  </a:t>
            </a:r>
            <a:r>
              <a:rPr lang="en-IN" sz="2000" dirty="0">
                <a:hlinkClick r:id="rId2"/>
              </a:rPr>
              <a:t>https://github.com/vanshika-vaid07/hospital-bed-resource-tracker</a:t>
            </a:r>
            <a:endParaRPr lang="en-US" sz="2000" dirty="0"/>
          </a:p>
          <a:p>
            <a:pPr marL="305435" indent="-305435"/>
            <a:r>
              <a:rPr lang="en-IN" sz="2000" dirty="0" err="1">
                <a:solidFill>
                  <a:schemeClr val="tx1">
                    <a:lumMod val="85000"/>
                    <a:lumOff val="1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Streamlit</a:t>
            </a: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:      </a:t>
            </a:r>
            <a:r>
              <a:rPr lang="en-IN" sz="2000" dirty="0">
                <a:hlinkClick r:id="rId4"/>
              </a:rPr>
              <a:t>https://hospital-bed-resource-tracker-uufhamgsp5wdkcpt8ie9rj.streamlit.app/</a:t>
            </a:r>
            <a:endParaRPr lang="en-IN" sz="2000" dirty="0"/>
          </a:p>
          <a:p>
            <a:pPr marL="305435" indent="-305435"/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22</TotalTime>
  <Words>972</Words>
  <Application>Microsoft Office PowerPoint</Application>
  <PresentationFormat>Widescreen</PresentationFormat>
  <Paragraphs>119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HOSPITAL BED &amp; RESOURCE AVAILABILITY TRACKER 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Result</vt:lpstr>
      <vt:lpstr>Result</vt:lpstr>
      <vt:lpstr>Result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Vanshika Vaid</cp:lastModifiedBy>
  <cp:revision>4</cp:revision>
  <dcterms:created xsi:type="dcterms:W3CDTF">2021-05-26T16:50:10Z</dcterms:created>
  <dcterms:modified xsi:type="dcterms:W3CDTF">2026-09-10T14:58:00Z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